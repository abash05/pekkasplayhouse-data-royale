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57" r:id="rId4"/>
    <p:sldId id="258" r:id="rId5"/>
    <p:sldId id="259" r:id="rId6"/>
    <p:sldId id="262" r:id="rId7"/>
    <p:sldId id="260" r:id="rId8"/>
    <p:sldId id="267" r:id="rId9"/>
    <p:sldId id="263" r:id="rId10"/>
    <p:sldId id="265" r:id="rId11"/>
    <p:sldId id="264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0C77F-9FD4-43AD-86FE-F999F9262A2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4E214-0B1C-44A0-A6AC-084CBADA2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83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4E214-0B1C-44A0-A6AC-084CBADA25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291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56DF-27DE-DC7C-6D88-E0F4CF78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326EF-0F26-C18B-C430-FD5D8939B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2F3C-14C2-8F06-5C61-95CB6D8E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C4221-3391-EBC8-4533-8B9A184F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91D04-9556-96F8-1B11-B89C42B9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D9BA-489D-20C8-A7DB-55CBCB66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C97E6-BEB4-DB24-6681-14CBC8A31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6774B-4DBC-65F4-3DCF-9694A5202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32F4D-2558-0B7B-FE5B-C7CF1DCA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E3CAF-EDAC-B1D2-0A1F-0718D8445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027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41141-3903-154A-F17B-1B100FC6F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D8EDE-A53E-A3BF-8CBD-1B1B5DFD5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994EB-FA1F-8FF9-CBAE-D88243E7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D8C98-1A62-F56F-A7DB-4639A6930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C5EEC-AEDA-B6D0-9540-BEF0262C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2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B82A-E607-0FDD-C76F-C9F09C85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7354-A8B5-139B-2837-0BF6E6875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EAD89-943A-A52D-D417-C2697FB5B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32DA6-91E3-8E05-0AE1-E68E9B42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214CC-0179-8E3C-0DB7-DFFC43B5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EB62D-8820-90E0-A23A-507BFA30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76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9107-E89B-9CF8-DEC0-C9BD88D62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88212-B120-FEDF-4411-6D2010A4B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AE4EB-59C7-4797-81C5-38AD59155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65B7B-09CC-4B93-A43F-E413BCE096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07483-835A-99AA-AB24-4879739FE6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CACF8-4150-58C6-7F24-6D4542560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EAB904-3049-32BC-5A75-AE526BFF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6DD257-672E-F119-E975-197A9A0AA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21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B5B6-7BA2-20C0-6362-C59A5C11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F4DE4-10B5-F8FA-7BB1-2CCFE418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418C8-6B44-D27C-2EAD-B4AA1844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1660C-0734-6700-3860-CB1BDD16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9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BE984-68BB-8A32-BCEB-5E7C15FA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67BB7E-89BA-E609-2F72-28AF855C7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E5CB8-B5CE-123D-D94B-CA474D31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07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F502-0780-3A14-00B5-5053C8EEA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FCD0B-974C-CE27-CD93-2332B3394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92FDA-223F-E5C5-AB4C-FDA84542FA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A30EA-1218-F9B9-DF23-0D7CF40C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74350-30CF-4F41-87E7-A0D3C9F06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65458-9719-2D00-0937-0A486093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0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559C-8702-D8EA-40E6-9FB67341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9918F-F24B-DB52-70E7-679938B97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E3D26-B987-F247-054D-0F72C0A9C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EF581-B606-EDE0-6F2C-F2E24C1C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E29E7-C5BB-E909-59C8-D63453D2B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E54CB-E246-E7E4-72C9-76EC7B422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8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CBAE-D31D-6E11-8D72-4C57F24B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FB075-7A30-66E9-BD1C-3DDFFD61B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CA6D2-AA8B-4858-3853-CBF2A334B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6A1AF-8300-14E2-558A-D15BC2560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1DDF1-7BF6-943C-988D-D4B5AA47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88F40-1D12-B62D-F709-0207FC3FA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D6524-522D-CDF0-DAA6-DB83F4845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4025C-83EB-D8A5-CC39-E0DD3EB7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8B0DF-06E2-0B3C-E402-C734CDB5D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F5ABD-D943-DDE5-603C-EE6644D39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7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F10359-6C11-5F18-82A2-AB47259B5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88B5C-21BD-188B-9AD3-20798D7B2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EDC75-B530-86CF-78A8-A30FF071C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10686-92BE-4651-AA51-FE4451BBFED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1E8C5-784C-0B67-BB73-15392D03E0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C4D5-DA32-5DEE-D94E-BB4F50D92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7790B-4258-4512-92E3-261641FED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46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357F-DE05-8091-7D36-8CC2AB1688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X-Bow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ACF20-AD1D-5B49-5BDF-4AFD106FD7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Pekka Playhouse: Ahmad Sawalha</a:t>
            </a:r>
          </a:p>
        </p:txBody>
      </p:sp>
    </p:spTree>
    <p:extLst>
      <p:ext uri="{BB962C8B-B14F-4D97-AF65-F5344CB8AC3E}">
        <p14:creationId xmlns:p14="http://schemas.microsoft.com/office/powerpoint/2010/main" val="238794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FC0F-95BB-1C1D-40C9-53C03EA8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Clash Royale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5BB9-E713-D9CC-07FB-9233DF45D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competitive strategy game that focuses on a balance of decks and strategy to counter your opponent.</a:t>
            </a:r>
          </a:p>
          <a:p>
            <a:r>
              <a:rPr lang="en-US" dirty="0"/>
              <a:t>Each player makes up a deck comprised of 8 cards, including troops, structures, and spells.</a:t>
            </a:r>
          </a:p>
          <a:p>
            <a:r>
              <a:rPr lang="en-US" dirty="0"/>
              <a:t>The X-bow is currently one of the most commonly used structures for its ability to act as a “win condition”.</a:t>
            </a:r>
          </a:p>
        </p:txBody>
      </p:sp>
    </p:spTree>
    <p:extLst>
      <p:ext uri="{BB962C8B-B14F-4D97-AF65-F5344CB8AC3E}">
        <p14:creationId xmlns:p14="http://schemas.microsoft.com/office/powerpoint/2010/main" val="1369356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77E48A-6D4A-329A-3FBE-5DC92F933FDD}"/>
              </a:ext>
            </a:extLst>
          </p:cNvPr>
          <p:cNvSpPr txBox="1"/>
          <p:nvPr/>
        </p:nvSpPr>
        <p:spPr>
          <a:xfrm>
            <a:off x="876693" y="1940482"/>
            <a:ext cx="3455821" cy="40408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X-bow was not always as fearful as it is now. Today, we’ll go over the impact of balance changes on the card: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Hey </a:t>
            </a:r>
            <a:r>
              <a:rPr lang="en-US" sz="2000" dirty="0" err="1"/>
              <a:t>devs</a:t>
            </a:r>
            <a:r>
              <a:rPr lang="en-US" sz="2000" dirty="0"/>
              <a:t>, our recent performance update on 9/12/2020 did not go as well as we had planned.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X-bow, Guards, Graveyard, and Heal Spirit were all nerfed.</a:t>
            </a:r>
          </a:p>
        </p:txBody>
      </p:sp>
      <p:pic>
        <p:nvPicPr>
          <p:cNvPr id="8" name="Picture 7" descr="A screenshot of a white text&#10;&#10;AI-generated content may be incorrect.">
            <a:extLst>
              <a:ext uri="{FF2B5EF4-FFF2-40B4-BE49-F238E27FC236}">
                <a16:creationId xmlns:a16="http://schemas.microsoft.com/office/drawing/2014/main" id="{AAE456CA-71F7-5C9E-79D8-23CB4C1E4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72" y="1676585"/>
            <a:ext cx="6389346" cy="351413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573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8A64-F160-92F9-8518-93CFFB7A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and After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65A6-7927-A248-F04C-0343E8FC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divided the first 1 million entries in the dataset into the period before and after the update. </a:t>
            </a:r>
          </a:p>
          <a:p>
            <a:pPr marL="0" indent="0">
              <a:buNone/>
            </a:pPr>
            <a:r>
              <a:rPr lang="en-US" dirty="0"/>
              <a:t>We used the columns indicating the winner and loser card IDs to find patterns due to the effect of the update.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5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8BA5F19-D5E1-4ECC-BEC2-DF7AEDFD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50CC88A9-A661-4C48-866E-8734E511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C5B32-E916-5988-CB7D-3AB0D905D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73" y="393380"/>
            <a:ext cx="7655427" cy="7398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Affects on X-bow </a:t>
            </a:r>
          </a:p>
        </p:txBody>
      </p:sp>
      <p:pic>
        <p:nvPicPr>
          <p:cNvPr id="1026" name="Picture 2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9B242A20-5238-6F86-143F-11BDDB9041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5474" y="2337520"/>
            <a:ext cx="4300561" cy="336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3B09A250-61C7-46F4-987D-7540CF827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95630" y="2337520"/>
            <a:ext cx="4300561" cy="336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CFDF195F-784B-4D00-8C92-6FC1B0499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E9552-759F-B6CB-8D82-7A9D62D39C2E}"/>
              </a:ext>
            </a:extLst>
          </p:cNvPr>
          <p:cNvSpPr txBox="1"/>
          <p:nvPr/>
        </p:nvSpPr>
        <p:spPr>
          <a:xfrm>
            <a:off x="1661754" y="5905721"/>
            <a:ext cx="419278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Courier New" panose="02070309020205020404" pitchFamily="49" charset="0"/>
              </a:rPr>
              <a:t>Before: 0.0645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After:  0.0425</a:t>
            </a:r>
            <a:endParaRPr lang="en-US" b="0" dirty="0"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D82F0F-B4C9-E1DC-7DCD-D2DD30F438B3}"/>
              </a:ext>
            </a:extLst>
          </p:cNvPr>
          <p:cNvSpPr txBox="1"/>
          <p:nvPr/>
        </p:nvSpPr>
        <p:spPr>
          <a:xfrm>
            <a:off x="6754287" y="5915617"/>
            <a:ext cx="4192780" cy="475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Courier New" panose="02070309020205020404" pitchFamily="49" charset="0"/>
              </a:rPr>
              <a:t>Before: 0.5519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After:  0.5100</a:t>
            </a:r>
            <a:endParaRPr lang="en-US" b="0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604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BD4945E-C4A0-889F-94D6-755EA062D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407" y="291195"/>
            <a:ext cx="10293246" cy="641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579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8E8E9D3F-8FFC-44B7-BFB9-B2888CCB5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1CA77-1658-C9CA-2B71-466FED10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5" y="1122363"/>
            <a:ext cx="3512532" cy="3200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Win Rate Drops</a:t>
            </a:r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96A4C419-5959-41E1-8F5D-4385DE6B3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0665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62" name="Picture 14" descr="A graph of 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A3392C04-F3B2-C23F-89D2-ECD88E70F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61058" y="380999"/>
            <a:ext cx="6671427" cy="36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7" name="Rectangle 2076">
            <a:extLst>
              <a:ext uri="{FF2B5EF4-FFF2-40B4-BE49-F238E27FC236}">
                <a16:creationId xmlns:a16="http://schemas.microsoft.com/office/drawing/2014/main" id="{DF923961-7523-4DA3-A6B8-16492042B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7758" y="4546920"/>
            <a:ext cx="351253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60" name="Picture 12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286B4F47-CDB3-FAF5-5C47-D41F7ECE7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8742" y="4304625"/>
            <a:ext cx="2185416" cy="173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graph of a person with a red line&#10;&#10;AI-generated content may be incorrect.">
            <a:extLst>
              <a:ext uri="{FF2B5EF4-FFF2-40B4-BE49-F238E27FC236}">
                <a16:creationId xmlns:a16="http://schemas.microsoft.com/office/drawing/2014/main" id="{7D483D2A-63BA-F543-7510-A7C5AE309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04063" y="4309452"/>
            <a:ext cx="2185416" cy="172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A graph of a graph showing different colored squares&#10;&#10;AI-generated content may be incorrect.">
            <a:extLst>
              <a:ext uri="{FF2B5EF4-FFF2-40B4-BE49-F238E27FC236}">
                <a16:creationId xmlns:a16="http://schemas.microsoft.com/office/drawing/2014/main" id="{21AA0926-883D-444B-2405-A16D410A0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49385" y="4309452"/>
            <a:ext cx="2185416" cy="1721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61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23B19-009F-6385-4D21-B0F611AB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X-bow Archetype generated dataset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18421C-E42A-C3AF-0C6C-41B52F4B9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321" y="273132"/>
            <a:ext cx="6797016" cy="2301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40000" lnSpcReduction="20000"/>
          </a:bodyPr>
          <a:lstStyle/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4500" dirty="0"/>
              <a:t>Using hot-one encoding, we created a dataset specified for our model with the columns: 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3800" dirty="0"/>
              <a:t>         	</a:t>
            </a:r>
          </a:p>
          <a:p>
            <a:pPr marR="0"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sz="3800" dirty="0"/>
              <a:t>       - </a:t>
            </a:r>
            <a:r>
              <a:rPr lang="en-US" altLang="en-US" sz="3800" dirty="0" err="1"/>
              <a:t>is_winner</a:t>
            </a:r>
            <a:r>
              <a:rPr lang="en-US" altLang="en-US" sz="3800" dirty="0"/>
              <a:t>	              - </a:t>
            </a:r>
            <a:r>
              <a:rPr lang="en-US" altLang="en-US" sz="3800" dirty="0" err="1"/>
              <a:t>t</a:t>
            </a:r>
            <a:r>
              <a:rPr kumimoji="0" lang="en-US" altLang="en-US" sz="3800" b="0" i="0" u="none" strike="noStrike" cap="none" normalizeH="0" baseline="0" dirty="0" err="1">
                <a:ln>
                  <a:noFill/>
                </a:ln>
                <a:effectLst/>
              </a:rPr>
              <a:t>otalcard.level</a:t>
            </a:r>
            <a:r>
              <a:rPr lang="en-US" altLang="en-US" sz="3800" dirty="0"/>
              <a:t>		- </a:t>
            </a:r>
            <a:r>
              <a:rPr kumimoji="0" lang="en-US" altLang="en-US" sz="3800" b="0" i="0" u="none" strike="noStrike" cap="none" normalizeH="0" baseline="0" dirty="0" err="1">
                <a:ln>
                  <a:noFill/>
                </a:ln>
                <a:effectLst/>
              </a:rPr>
              <a:t>elixir.</a:t>
            </a:r>
            <a:r>
              <a:rPr lang="en-US" altLang="en-US" sz="3800" dirty="0" err="1"/>
              <a:t>ave</a:t>
            </a:r>
            <a:r>
              <a:rPr kumimoji="0" lang="en-US" altLang="en-US" sz="3800" b="0" i="0" u="none" strike="noStrike" cap="none" normalizeH="0" baseline="0" dirty="0" err="1">
                <a:ln>
                  <a:noFill/>
                </a:ln>
                <a:effectLst/>
              </a:rPr>
              <a:t>rage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228600" lvl="1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800" dirty="0"/>
              <a:t> -  </a:t>
            </a:r>
            <a:r>
              <a:rPr lang="en-US" altLang="en-US" sz="3800" dirty="0" err="1"/>
              <a:t>startingTrophies</a:t>
            </a:r>
            <a:r>
              <a:rPr lang="en-US" altLang="en-US" sz="3800" dirty="0"/>
              <a:t>	              - </a:t>
            </a:r>
            <a:r>
              <a:rPr kumimoji="0" lang="en-US" altLang="en-US" sz="3800" b="0" i="0" u="none" strike="noStrike" cap="none" normalizeH="0" baseline="0" dirty="0" err="1">
                <a:ln>
                  <a:noFill/>
                </a:ln>
                <a:effectLst/>
              </a:rPr>
              <a:t>trophyChange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effectLst/>
              </a:rPr>
              <a:t>		 - </a:t>
            </a:r>
            <a:r>
              <a:rPr lang="en-US" altLang="en-US" sz="3800" dirty="0"/>
              <a:t>crowns</a:t>
            </a:r>
          </a:p>
          <a:p>
            <a:pPr marL="228600" lvl="1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effectLst/>
              </a:rPr>
              <a:t>...</a:t>
            </a:r>
          </a:p>
          <a:p>
            <a:pPr marL="228600" lvl="1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3800" dirty="0"/>
              <a:t>- X-bow + Graveyard              - X-bow + Guards	- X-bow + Heal Spirit</a:t>
            </a:r>
          </a:p>
          <a:p>
            <a:pPr marL="228600" lvl="1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effectLst/>
              </a:rPr>
              <a:t>-  X-bow</a:t>
            </a:r>
            <a:r>
              <a:rPr kumimoji="0" lang="en-US" altLang="en-US" sz="3800" b="0" i="0" u="none" strike="noStrike" cap="none" normalizeH="0" dirty="0">
                <a:ln>
                  <a:noFill/>
                </a:ln>
                <a:effectLst/>
              </a:rPr>
              <a:t> only	               - </a:t>
            </a:r>
            <a:r>
              <a:rPr kumimoji="0" lang="en-US" altLang="en-US" sz="3800" b="0" i="0" u="none" strike="noStrike" cap="none" normalizeH="0" dirty="0" err="1">
                <a:ln>
                  <a:noFill/>
                </a:ln>
                <a:effectLst/>
              </a:rPr>
              <a:t>period_before</a:t>
            </a:r>
            <a:endParaRPr kumimoji="0" lang="en-US" altLang="en-US" sz="38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lvl="1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1C867-C336-5434-7A0B-50E499C5A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125520"/>
              </p:ext>
            </p:extLst>
          </p:nvPr>
        </p:nvGraphicFramePr>
        <p:xfrm>
          <a:off x="554416" y="3187166"/>
          <a:ext cx="11168199" cy="2980695"/>
        </p:xfrm>
        <a:graphic>
          <a:graphicData uri="http://schemas.openxmlformats.org/drawingml/2006/table">
            <a:tbl>
              <a:tblPr firstRow="1" bandRow="1"/>
              <a:tblGrid>
                <a:gridCol w="172006">
                  <a:extLst>
                    <a:ext uri="{9D8B030D-6E8A-4147-A177-3AD203B41FA5}">
                      <a16:colId xmlns:a16="http://schemas.microsoft.com/office/drawing/2014/main" val="3983460883"/>
                    </a:ext>
                  </a:extLst>
                </a:gridCol>
                <a:gridCol w="470853">
                  <a:extLst>
                    <a:ext uri="{9D8B030D-6E8A-4147-A177-3AD203B41FA5}">
                      <a16:colId xmlns:a16="http://schemas.microsoft.com/office/drawing/2014/main" val="508094612"/>
                    </a:ext>
                  </a:extLst>
                </a:gridCol>
                <a:gridCol w="627656">
                  <a:extLst>
                    <a:ext uri="{9D8B030D-6E8A-4147-A177-3AD203B41FA5}">
                      <a16:colId xmlns:a16="http://schemas.microsoft.com/office/drawing/2014/main" val="2516718138"/>
                    </a:ext>
                  </a:extLst>
                </a:gridCol>
                <a:gridCol w="610131">
                  <a:extLst>
                    <a:ext uri="{9D8B030D-6E8A-4147-A177-3AD203B41FA5}">
                      <a16:colId xmlns:a16="http://schemas.microsoft.com/office/drawing/2014/main" val="2894028449"/>
                    </a:ext>
                  </a:extLst>
                </a:gridCol>
                <a:gridCol w="708825">
                  <a:extLst>
                    <a:ext uri="{9D8B030D-6E8A-4147-A177-3AD203B41FA5}">
                      <a16:colId xmlns:a16="http://schemas.microsoft.com/office/drawing/2014/main" val="1952096120"/>
                    </a:ext>
                  </a:extLst>
                </a:gridCol>
                <a:gridCol w="636880">
                  <a:extLst>
                    <a:ext uri="{9D8B030D-6E8A-4147-A177-3AD203B41FA5}">
                      <a16:colId xmlns:a16="http://schemas.microsoft.com/office/drawing/2014/main" val="107056155"/>
                    </a:ext>
                  </a:extLst>
                </a:gridCol>
                <a:gridCol w="384151">
                  <a:extLst>
                    <a:ext uri="{9D8B030D-6E8A-4147-A177-3AD203B41FA5}">
                      <a16:colId xmlns:a16="http://schemas.microsoft.com/office/drawing/2014/main" val="2216164867"/>
                    </a:ext>
                  </a:extLst>
                </a:gridCol>
                <a:gridCol w="531729">
                  <a:extLst>
                    <a:ext uri="{9D8B030D-6E8A-4147-A177-3AD203B41FA5}">
                      <a16:colId xmlns:a16="http://schemas.microsoft.com/office/drawing/2014/main" val="3137013597"/>
                    </a:ext>
                  </a:extLst>
                </a:gridCol>
                <a:gridCol w="661784">
                  <a:extLst>
                    <a:ext uri="{9D8B030D-6E8A-4147-A177-3AD203B41FA5}">
                      <a16:colId xmlns:a16="http://schemas.microsoft.com/office/drawing/2014/main" val="182558041"/>
                    </a:ext>
                  </a:extLst>
                </a:gridCol>
                <a:gridCol w="515127">
                  <a:extLst>
                    <a:ext uri="{9D8B030D-6E8A-4147-A177-3AD203B41FA5}">
                      <a16:colId xmlns:a16="http://schemas.microsoft.com/office/drawing/2014/main" val="2694121660"/>
                    </a:ext>
                  </a:extLst>
                </a:gridCol>
                <a:gridCol w="658094">
                  <a:extLst>
                    <a:ext uri="{9D8B030D-6E8A-4147-A177-3AD203B41FA5}">
                      <a16:colId xmlns:a16="http://schemas.microsoft.com/office/drawing/2014/main" val="2370222266"/>
                    </a:ext>
                  </a:extLst>
                </a:gridCol>
                <a:gridCol w="491145">
                  <a:extLst>
                    <a:ext uri="{9D8B030D-6E8A-4147-A177-3AD203B41FA5}">
                      <a16:colId xmlns:a16="http://schemas.microsoft.com/office/drawing/2014/main" val="2440770985"/>
                    </a:ext>
                  </a:extLst>
                </a:gridCol>
                <a:gridCol w="496680">
                  <a:extLst>
                    <a:ext uri="{9D8B030D-6E8A-4147-A177-3AD203B41FA5}">
                      <a16:colId xmlns:a16="http://schemas.microsoft.com/office/drawing/2014/main" val="3211155822"/>
                    </a:ext>
                  </a:extLst>
                </a:gridCol>
                <a:gridCol w="704212">
                  <a:extLst>
                    <a:ext uri="{9D8B030D-6E8A-4147-A177-3AD203B41FA5}">
                      <a16:colId xmlns:a16="http://schemas.microsoft.com/office/drawing/2014/main" val="3003926871"/>
                    </a:ext>
                  </a:extLst>
                </a:gridCol>
                <a:gridCol w="745720">
                  <a:extLst>
                    <a:ext uri="{9D8B030D-6E8A-4147-A177-3AD203B41FA5}">
                      <a16:colId xmlns:a16="http://schemas.microsoft.com/office/drawing/2014/main" val="3645823251"/>
                    </a:ext>
                  </a:extLst>
                </a:gridCol>
                <a:gridCol w="691299">
                  <a:extLst>
                    <a:ext uri="{9D8B030D-6E8A-4147-A177-3AD203B41FA5}">
                      <a16:colId xmlns:a16="http://schemas.microsoft.com/office/drawing/2014/main" val="1279158323"/>
                    </a:ext>
                  </a:extLst>
                </a:gridCol>
                <a:gridCol w="742952">
                  <a:extLst>
                    <a:ext uri="{9D8B030D-6E8A-4147-A177-3AD203B41FA5}">
                      <a16:colId xmlns:a16="http://schemas.microsoft.com/office/drawing/2014/main" val="3548534614"/>
                    </a:ext>
                  </a:extLst>
                </a:gridCol>
                <a:gridCol w="691299">
                  <a:extLst>
                    <a:ext uri="{9D8B030D-6E8A-4147-A177-3AD203B41FA5}">
                      <a16:colId xmlns:a16="http://schemas.microsoft.com/office/drawing/2014/main" val="70999471"/>
                    </a:ext>
                  </a:extLst>
                </a:gridCol>
                <a:gridCol w="627656">
                  <a:extLst>
                    <a:ext uri="{9D8B030D-6E8A-4147-A177-3AD203B41FA5}">
                      <a16:colId xmlns:a16="http://schemas.microsoft.com/office/drawing/2014/main" val="2245690207"/>
                    </a:ext>
                  </a:extLst>
                </a:gridCol>
              </a:tblGrid>
              <a:tr h="737805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US" sz="600">
                        <a:effectLst/>
                      </a:endParaRP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is_winner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totalcard.level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elixir.average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startingTrophies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trophyChange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crowns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troop.count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 dirty="0" err="1">
                          <a:effectLst/>
                        </a:rPr>
                        <a:t>structure.count</a:t>
                      </a:r>
                      <a:endParaRPr lang="en-US" sz="600" dirty="0">
                        <a:effectLst/>
                      </a:endParaRP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spell.count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common.count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rare.count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epic.count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legendary.count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deck_combo_X-bow + Graveyard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deck_combo_X-bow + Guards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deck_combo_X-bow + Heal Spirit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deck_combo_X-bow-only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period_before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483827"/>
                  </a:ext>
                </a:extLst>
              </a:tr>
              <a:tr h="4485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77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3.00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5046.0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-29.0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5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726160"/>
                  </a:ext>
                </a:extLst>
              </a:tr>
              <a:tr h="4485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104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3.00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7004.0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27.0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5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1681"/>
                  </a:ext>
                </a:extLst>
              </a:tr>
              <a:tr h="4485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103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3.50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5634.0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-30.0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340414"/>
                  </a:ext>
                </a:extLst>
              </a:tr>
              <a:tr h="4485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104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3.00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7856.0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24.0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5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29723"/>
                  </a:ext>
                </a:extLst>
              </a:tr>
              <a:tr h="448578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104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3.25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7521.0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-28.0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0.0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5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False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600" dirty="0">
                          <a:effectLst/>
                        </a:rPr>
                        <a:t>True</a:t>
                      </a:r>
                    </a:p>
                  </a:txBody>
                  <a:tcPr marL="32403" marR="32403" marT="16202" marB="1620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852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501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FA7458-FB60-28F6-0379-C9BCB63B377A}"/>
              </a:ext>
            </a:extLst>
          </p:cNvPr>
          <p:cNvSpPr txBox="1"/>
          <p:nvPr/>
        </p:nvSpPr>
        <p:spPr>
          <a:xfrm>
            <a:off x="2173185" y="2971870"/>
            <a:ext cx="105245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Accuracy: 0.5590667119719107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precision    recall  f1-score   support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0       0.57      0.32      0.41      4244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1       0.55      0.78      0.65      4585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accuracy                               0.56      8829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macro avg       0.56      0.55      0.53      8829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weighted avg       0.56      0.56      0.53      8829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36E03-B1AD-770F-A9C3-2E59B6FC5738}"/>
              </a:ext>
            </a:extLst>
          </p:cNvPr>
          <p:cNvSpPr txBox="1"/>
          <p:nvPr/>
        </p:nvSpPr>
        <p:spPr>
          <a:xfrm>
            <a:off x="3943014" y="724394"/>
            <a:ext cx="78377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model only predicted 55.9% of the data accurately, meaning other predictors are needed for better analysis. </a:t>
            </a:r>
          </a:p>
          <a:p>
            <a:r>
              <a:rPr lang="en-US" dirty="0"/>
              <a:t>Our model is biased towards class 1, with 78% accuracy in prediction, thus performing much better than on class 0. 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0E0FE-4226-7A7C-5270-7E6D5B6402EB}"/>
              </a:ext>
            </a:extLst>
          </p:cNvPr>
          <p:cNvSpPr txBox="1"/>
          <p:nvPr/>
        </p:nvSpPr>
        <p:spPr>
          <a:xfrm>
            <a:off x="411272" y="331311"/>
            <a:ext cx="29969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Logistic Regression Findings</a:t>
            </a:r>
          </a:p>
        </p:txBody>
      </p:sp>
    </p:spTree>
    <p:extLst>
      <p:ext uri="{BB962C8B-B14F-4D97-AF65-F5344CB8AC3E}">
        <p14:creationId xmlns:p14="http://schemas.microsoft.com/office/powerpoint/2010/main" val="1155321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4EF59F-F2BF-F814-BBFB-4A09398C0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lang="en-US" sz="5400" dirty="0"/>
              <a:t>Other factors</a:t>
            </a:r>
          </a:p>
        </p:txBody>
      </p:sp>
      <p:pic>
        <p:nvPicPr>
          <p:cNvPr id="4098" name="Picture 2" descr="A chart with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380AC343-E304-9DFF-7F55-6CCA4DF52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" r="-2" b="-2"/>
          <a:stretch>
            <a:fillRect/>
          </a:stretch>
        </p:blipFill>
        <p:spPr bwMode="auto">
          <a:xfrm>
            <a:off x="776105" y="320040"/>
            <a:ext cx="4845542" cy="392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8661D02B-A6AA-950D-796D-74FC6BB68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12454" y="320040"/>
            <a:ext cx="4955243" cy="392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2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8271-4160-4928-635A-CA2ADA80C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9" y="4440365"/>
            <a:ext cx="6214871" cy="17226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dirty="0"/>
              <a:t>Some factors that can help improve the model in accurately predicting the likelihood of winning would be the elixir average and deck makeup (e.g., high structure count)</a:t>
            </a:r>
          </a:p>
        </p:txBody>
      </p:sp>
    </p:spTree>
    <p:extLst>
      <p:ext uri="{BB962C8B-B14F-4D97-AF65-F5344CB8AC3E}">
        <p14:creationId xmlns:p14="http://schemas.microsoft.com/office/powerpoint/2010/main" val="2256129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E46751-1FA4-FF39-6CE6-AA541C8D070B}"/>
              </a:ext>
            </a:extLst>
          </p:cNvPr>
          <p:cNvSpPr txBox="1"/>
          <p:nvPr/>
        </p:nvSpPr>
        <p:spPr>
          <a:xfrm>
            <a:off x="1021279" y="885769"/>
            <a:ext cx="1239783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			Logit Regression Results                           </a:t>
            </a:r>
          </a:p>
          <a:p>
            <a:r>
              <a:rPr lang="en-US" dirty="0"/>
              <a:t>==============================================================================</a:t>
            </a:r>
          </a:p>
          <a:p>
            <a:r>
              <a:rPr lang="en-US" dirty="0"/>
              <a:t>Dep. Variable:                  </a:t>
            </a:r>
            <a:r>
              <a:rPr lang="en-US" dirty="0" err="1"/>
              <a:t>is_winner</a:t>
            </a:r>
            <a:r>
              <a:rPr lang="en-US" dirty="0"/>
              <a:t>   No. Observations:            44145</a:t>
            </a:r>
          </a:p>
          <a:p>
            <a:r>
              <a:rPr lang="en-US" dirty="0"/>
              <a:t>Model:                          	Logit  </a:t>
            </a:r>
            <a:r>
              <a:rPr lang="en-US" dirty="0" err="1"/>
              <a:t>Df</a:t>
            </a:r>
            <a:r>
              <a:rPr lang="en-US" dirty="0"/>
              <a:t> Residuals:                     44138</a:t>
            </a:r>
          </a:p>
          <a:p>
            <a:r>
              <a:rPr lang="en-US" dirty="0"/>
              <a:t>Method:                           	MLE   </a:t>
            </a:r>
            <a:r>
              <a:rPr lang="en-US" dirty="0" err="1"/>
              <a:t>Df</a:t>
            </a:r>
            <a:r>
              <a:rPr lang="en-US" dirty="0"/>
              <a:t> Model:                             6</a:t>
            </a:r>
          </a:p>
          <a:p>
            <a:r>
              <a:rPr lang="en-US" dirty="0"/>
              <a:t>Date:                        Fri, 14 Nov 2025  Pseudo R-</a:t>
            </a:r>
            <a:r>
              <a:rPr lang="en-US" dirty="0" err="1"/>
              <a:t>squ</a:t>
            </a:r>
            <a:r>
              <a:rPr lang="en-US" dirty="0"/>
              <a:t>.:                 0.01510</a:t>
            </a:r>
          </a:p>
          <a:p>
            <a:r>
              <a:rPr lang="en-US" dirty="0"/>
              <a:t>Time:                                       17:44:44   Log-Likelihood:                -30119.</a:t>
            </a:r>
          </a:p>
          <a:p>
            <a:r>
              <a:rPr lang="en-US" dirty="0"/>
              <a:t>converged:                                  False   LL-Null:                       	  -30580.</a:t>
            </a:r>
          </a:p>
          <a:p>
            <a:r>
              <a:rPr lang="en-US" dirty="0"/>
              <a:t>Covariance Type:           </a:t>
            </a:r>
            <a:r>
              <a:rPr lang="en-US" dirty="0" err="1"/>
              <a:t>nonrobust</a:t>
            </a:r>
            <a:r>
              <a:rPr lang="en-US" dirty="0"/>
              <a:t>   LLR p-value:                      3.464e-196</a:t>
            </a:r>
          </a:p>
          <a:p>
            <a:r>
              <a:rPr lang="en-US" dirty="0"/>
              <a:t>=================================================================================</a:t>
            </a:r>
          </a:p>
          <a:p>
            <a:r>
              <a:rPr lang="en-US" dirty="0"/>
              <a:t>                                     			</a:t>
            </a:r>
            <a:r>
              <a:rPr lang="en-US" dirty="0" err="1"/>
              <a:t>coef</a:t>
            </a:r>
            <a:r>
              <a:rPr lang="en-US" dirty="0"/>
              <a:t>    	std err             z     	     P&gt;|z|         [0.025      0.975]</a:t>
            </a:r>
          </a:p>
          <a:p>
            <a:r>
              <a:rPr lang="en-US" dirty="0"/>
              <a:t>--------------------------------------------------------------------------------------------------------------------------------</a:t>
            </a:r>
          </a:p>
          <a:p>
            <a:r>
              <a:rPr lang="en-US" dirty="0"/>
              <a:t>const                           			 -14.4340   1278.911     -0.011      0.991   -2521.054    2492.186</a:t>
            </a:r>
          </a:p>
          <a:p>
            <a:r>
              <a:rPr lang="en-US" dirty="0" err="1"/>
              <a:t>deck_combo_X</a:t>
            </a:r>
            <a:r>
              <a:rPr lang="en-US" dirty="0"/>
              <a:t>-bow + Graveyard      	15.3401     1278.911      0.012      0.990   -2491.280    2521.960</a:t>
            </a:r>
          </a:p>
          <a:p>
            <a:r>
              <a:rPr lang="en-US" dirty="0" err="1"/>
              <a:t>deck_combo_X</a:t>
            </a:r>
            <a:r>
              <a:rPr lang="en-US" dirty="0"/>
              <a:t>-bow + Guards         	16.5691     1278.911      0.013      0.990   -2490.051    2523.189</a:t>
            </a:r>
          </a:p>
          <a:p>
            <a:r>
              <a:rPr lang="en-US" dirty="0" err="1"/>
              <a:t>deck_combo_X</a:t>
            </a:r>
            <a:r>
              <a:rPr lang="en-US" dirty="0"/>
              <a:t>-bow + Heal Spirit    	14.8039     1278.911      0.012      0.991   -2491.816    2521.424</a:t>
            </a:r>
          </a:p>
          <a:p>
            <a:r>
              <a:rPr lang="en-US" dirty="0" err="1"/>
              <a:t>deck_combo_X</a:t>
            </a:r>
            <a:r>
              <a:rPr lang="en-US" dirty="0"/>
              <a:t>-bow-only             	16.0048     1278.911      0.013      0.990   -2490.615    2522.625</a:t>
            </a:r>
          </a:p>
          <a:p>
            <a:r>
              <a:rPr lang="en-US" dirty="0" err="1"/>
              <a:t>period_before</a:t>
            </a:r>
            <a:r>
              <a:rPr lang="en-US" dirty="0"/>
              <a:t>                      		0.0816        0.031      2.611      0.009       0.020       0.143</a:t>
            </a:r>
          </a:p>
          <a:p>
            <a:r>
              <a:rPr lang="en-US" dirty="0" err="1"/>
              <a:t>elixir.average</a:t>
            </a:r>
            <a:r>
              <a:rPr lang="en-US" dirty="0"/>
              <a:t>                    		-0.4336      0.016    -27.962      0.000      -0.464      -0.403</a:t>
            </a:r>
          </a:p>
          <a:p>
            <a:r>
              <a:rPr lang="en-US" dirty="0"/>
              <a:t>==================================================================================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3417510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3E59-10A4-E2A2-92D7-978A6253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E35E9-CC91-E4AA-5EAB-02085F2A6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Logistic Regression Model, predicting whether a player is a winner based on the deck combo, period, and elixir average. The high p-value for the deck composition means it is not as significant as the elixir average and the period (indicating that the update did in fact affect the results). </a:t>
            </a:r>
          </a:p>
          <a:p>
            <a:pPr marL="0" indent="0">
              <a:buNone/>
            </a:pPr>
            <a:r>
              <a:rPr lang="en-US" dirty="0"/>
              <a:t>The negative coefficient for the period indicates that the update decreased the likelihood of winning for X-bow decks after the update. </a:t>
            </a:r>
          </a:p>
          <a:p>
            <a:pPr marL="0" indent="0">
              <a:buNone/>
            </a:pPr>
            <a:r>
              <a:rPr lang="en-US" dirty="0"/>
              <a:t>Higher elixir average correlates with a lower likelihood of winning.</a:t>
            </a:r>
          </a:p>
          <a:p>
            <a:pPr marL="0" indent="0">
              <a:buNone/>
            </a:pPr>
            <a:r>
              <a:rPr lang="en-US" dirty="0"/>
              <a:t>R-squared is very small, meaning that other variables have a higher correlation with the variation. </a:t>
            </a:r>
          </a:p>
        </p:txBody>
      </p:sp>
    </p:spTree>
    <p:extLst>
      <p:ext uri="{BB962C8B-B14F-4D97-AF65-F5344CB8AC3E}">
        <p14:creationId xmlns:p14="http://schemas.microsoft.com/office/powerpoint/2010/main" val="663757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F08B-A8E5-B41F-8D5B-D24A5BED9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E6939E-2E92-8755-DC7A-CF8FAB455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5731"/>
          </a:xfrm>
        </p:spPr>
        <p:txBody>
          <a:bodyPr/>
          <a:lstStyle/>
          <a:p>
            <a:r>
              <a:rPr lang="en-US" dirty="0"/>
              <a:t>Our recent update has rather put X-bow users at a disadvantage instead of balancing the game. </a:t>
            </a:r>
          </a:p>
        </p:txBody>
      </p:sp>
    </p:spTree>
    <p:extLst>
      <p:ext uri="{BB962C8B-B14F-4D97-AF65-F5344CB8AC3E}">
        <p14:creationId xmlns:p14="http://schemas.microsoft.com/office/powerpoint/2010/main" val="366472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860</Words>
  <Application>Microsoft Office PowerPoint</Application>
  <PresentationFormat>Widescreen</PresentationFormat>
  <Paragraphs>184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</vt:lpstr>
      <vt:lpstr>Office Theme</vt:lpstr>
      <vt:lpstr>X-Bow</vt:lpstr>
      <vt:lpstr>Clash Royale</vt:lpstr>
      <vt:lpstr>PowerPoint Presentation</vt:lpstr>
      <vt:lpstr>Before and After</vt:lpstr>
      <vt:lpstr>Affects on X-bow </vt:lpstr>
      <vt:lpstr>PowerPoint Presentation</vt:lpstr>
      <vt:lpstr>Win Rate Drops</vt:lpstr>
      <vt:lpstr>X-bow Archetype generated dataset</vt:lpstr>
      <vt:lpstr>PowerPoint Presentation</vt:lpstr>
      <vt:lpstr>Other factors</vt:lpstr>
      <vt:lpstr>PowerPoint Presentation</vt:lpstr>
      <vt:lpstr>Interpretation: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A. Sawalha</dc:creator>
  <cp:lastModifiedBy>Ahmad A. Sawalha</cp:lastModifiedBy>
  <cp:revision>1</cp:revision>
  <dcterms:created xsi:type="dcterms:W3CDTF">2025-11-14T17:57:43Z</dcterms:created>
  <dcterms:modified xsi:type="dcterms:W3CDTF">2025-11-14T19:24:04Z</dcterms:modified>
</cp:coreProperties>
</file>